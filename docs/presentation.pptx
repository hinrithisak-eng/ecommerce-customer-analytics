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Calibri"/>
              </a:rPr>
              <a:t>Net revenue by category (USD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($k)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Electronics</c:v>
                  </c:pt>
                  <c:pt idx="1">
                    <c:v>Home &amp; Kitchen</c:v>
                  </c:pt>
                  <c:pt idx="2">
                    <c:v>Fashion</c:v>
                  </c:pt>
                  <c:pt idx="3">
                    <c:v>Sports</c:v>
                  </c:pt>
                  <c:pt idx="4">
                    <c:v>Beauty</c:v>
                  </c:pt>
                  <c:pt idx="5">
                    <c:v>Toys</c:v>
                  </c:pt>
                  <c:pt idx="6">
                    <c:v>Books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122.2</c:v>
                </c:pt>
                <c:pt idx="1">
                  <c:v>32.6</c:v>
                </c:pt>
                <c:pt idx="2">
                  <c:v>27.9</c:v>
                </c:pt>
                <c:pt idx="3">
                  <c:v>18.5</c:v>
                </c:pt>
                <c:pt idx="4">
                  <c:v>12.5</c:v>
                </c:pt>
                <c:pt idx="5">
                  <c:v>8.6</c:v>
                </c:pt>
                <c:pt idx="6">
                  <c:v>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Orders per customer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Orders per customer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Regular</c:v>
                  </c:pt>
                  <c:pt idx="2">
                    <c:v>VIP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1.62</c:v>
                </c:pt>
                <c:pt idx="1">
                  <c:v>2.45</c:v>
                </c:pt>
                <c:pt idx="2">
                  <c:v>4.83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Average order value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order value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Regular</c:v>
                  </c:pt>
                  <c:pt idx="2">
                    <c:v>VIP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137.2</c:v>
                </c:pt>
                <c:pt idx="1">
                  <c:v>138.4</c:v>
                </c:pt>
                <c:pt idx="2">
                  <c:v>131.6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Net revenue per customer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per customer ($)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Regular</c:v>
                  </c:pt>
                  <c:pt idx="2">
                    <c:v>VIP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</c:v>
                </c:pt>
                <c:pt idx="1">
                  <c:v>291</c:v>
                </c:pt>
                <c:pt idx="2">
                  <c:v>539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Calibri"/>
              </a:rPr>
              <a:t>Monthly orders (bars) and net revenue (line)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Jan-24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  <c:pt idx="12">
                    <c:v>Jan-25</c:v>
                  </c:pt>
                  <c:pt idx="13">
                    <c:v>Feb</c:v>
                  </c:pt>
                  <c:pt idx="14">
                    <c:v>Mar</c:v>
                  </c:pt>
                  <c:pt idx="15">
                    <c:v>Apr</c:v>
                  </c:pt>
                  <c:pt idx="16">
                    <c:v>May</c:v>
                  </c:pt>
                  <c:pt idx="17">
                    <c:v>Jun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75</c:v>
                </c:pt>
                <c:pt idx="1">
                  <c:v>66</c:v>
                </c:pt>
                <c:pt idx="2">
                  <c:v>75</c:v>
                </c:pt>
                <c:pt idx="3">
                  <c:v>101</c:v>
                </c:pt>
                <c:pt idx="4">
                  <c:v>125</c:v>
                </c:pt>
                <c:pt idx="5">
                  <c:v>113</c:v>
                </c:pt>
                <c:pt idx="6">
                  <c:v>110</c:v>
                </c:pt>
                <c:pt idx="7">
                  <c:v>137</c:v>
                </c:pt>
                <c:pt idx="8">
                  <c:v>119</c:v>
                </c:pt>
                <c:pt idx="9">
                  <c:v>103</c:v>
                </c:pt>
                <c:pt idx="10">
                  <c:v>172</c:v>
                </c:pt>
                <c:pt idx="11">
                  <c:v>183</c:v>
                </c:pt>
                <c:pt idx="12">
                  <c:v>96</c:v>
                </c:pt>
                <c:pt idx="13">
                  <c:v>77</c:v>
                </c:pt>
                <c:pt idx="14">
                  <c:v>95</c:v>
                </c:pt>
                <c:pt idx="15">
                  <c:v>93</c:v>
                </c:pt>
                <c:pt idx="16">
                  <c:v>109</c:v>
                </c:pt>
                <c:pt idx="17">
                  <c:v>123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($k)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Jan-24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  <c:pt idx="12">
                    <c:v>Jan-25</c:v>
                  </c:pt>
                  <c:pt idx="13">
                    <c:v>Feb</c:v>
                  </c:pt>
                  <c:pt idx="14">
                    <c:v>Mar</c:v>
                  </c:pt>
                  <c:pt idx="15">
                    <c:v>Apr</c:v>
                  </c:pt>
                  <c:pt idx="16">
                    <c:v>May</c:v>
                  </c:pt>
                  <c:pt idx="17">
                    <c:v>Jun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7.4</c:v>
                </c:pt>
                <c:pt idx="1">
                  <c:v>7</c:v>
                </c:pt>
                <c:pt idx="2">
                  <c:v>8.1</c:v>
                </c:pt>
                <c:pt idx="3">
                  <c:v>13.6</c:v>
                </c:pt>
                <c:pt idx="4">
                  <c:v>13.6</c:v>
                </c:pt>
                <c:pt idx="5">
                  <c:v>15.3</c:v>
                </c:pt>
                <c:pt idx="6">
                  <c:v>12.1</c:v>
                </c:pt>
                <c:pt idx="7">
                  <c:v>12.4</c:v>
                </c:pt>
                <c:pt idx="8">
                  <c:v>16.1</c:v>
                </c:pt>
                <c:pt idx="9">
                  <c:v>13.7</c:v>
                </c:pt>
                <c:pt idx="10">
                  <c:v>18.9</c:v>
                </c:pt>
                <c:pt idx="11">
                  <c:v>28.2</c:v>
                </c:pt>
                <c:pt idx="12">
                  <c:v>10.5</c:v>
                </c:pt>
                <c:pt idx="13">
                  <c:v>8.3</c:v>
                </c:pt>
                <c:pt idx="14">
                  <c:v>11</c:v>
                </c:pt>
                <c:pt idx="15">
                  <c:v>8.3</c:v>
                </c:pt>
                <c:pt idx="16">
                  <c:v>12.4</c:v>
                </c:pt>
                <c:pt idx="17">
                  <c:v>10.4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Orders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Revenue ($k)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Mean review rating by delivery band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rating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E7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1–3 days</c:v>
                  </c:pt>
                  <c:pt idx="1">
                    <c:v>4–6 days</c:v>
                  </c:pt>
                  <c:pt idx="2">
                    <c:v>7–9 days</c:v>
                  </c:pt>
                  <c:pt idx="3">
                    <c:v>10+ days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3.96</c:v>
                </c:pt>
                <c:pt idx="1">
                  <c:v>3.65</c:v>
                </c:pt>
                <c:pt idx="2">
                  <c:v>3.34</c:v>
                </c:pt>
                <c:pt idx="3">
                  <c:v>3.02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Net revenue by country (USD thousands)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($k)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Cambodia</c:v>
                  </c:pt>
                  <c:pt idx="1">
                    <c:v>Thailand</c:v>
                  </c:pt>
                  <c:pt idx="2">
                    <c:v>Vietnam</c:v>
                  </c:pt>
                  <c:pt idx="3">
                    <c:v>Singapore</c:v>
                  </c:pt>
                  <c:pt idx="4">
                    <c:v>Malaysia</c:v>
                  </c:pt>
                  <c:pt idx="5">
                    <c:v>Philippines</c:v>
                  </c:pt>
                  <c:pt idx="6">
                    <c:v>Indonesia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78.5</c:v>
                </c:pt>
                <c:pt idx="1">
                  <c:v>44.5</c:v>
                </c:pt>
                <c:pt idx="2">
                  <c:v>37.3</c:v>
                </c:pt>
                <c:pt idx="3">
                  <c:v>23.7</c:v>
                </c:pt>
                <c:pt idx="4">
                  <c:v>17.1</c:v>
                </c:pt>
                <c:pt idx="5">
                  <c:v>14.1</c:v>
                </c:pt>
                <c:pt idx="6">
                  <c:v>11.9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Calibri"/>
              </a:rPr>
              <a:t>Net revenue per acquired customer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per customer ($)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Social Media</c:v>
                  </c:pt>
                  <c:pt idx="1">
                    <c:v>Email</c:v>
                  </c:pt>
                  <c:pt idx="2">
                    <c:v>Paid Ads</c:v>
                  </c:pt>
                  <c:pt idx="3">
                    <c:v>Organic Search</c:v>
                  </c:pt>
                  <c:pt idx="4">
                    <c:v>Referral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333</c:v>
                </c:pt>
                <c:pt idx="1">
                  <c:v>325</c:v>
                </c:pt>
                <c:pt idx="2">
                  <c:v>322</c:v>
                </c:pt>
                <c:pt idx="3">
                  <c:v>314</c:v>
                </c:pt>
                <c:pt idx="4">
                  <c:v>237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e-commerce retailer across 7 Southeast-Asian markets; goal is to answer business questions from order data using Pandas.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486400" cy="5486400"/>
          </a:xfrm>
          <a:prstGeom prst="ellipse">
            <a:avLst/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566160"/>
            <a:ext cx="3657600" cy="3657600"/>
          </a:xfrm>
          <a:prstGeom prst="ellipse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2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Customer Analytics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18 months of order data into revenue, retention and service-quality insights with Python &amp; Pandas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  ·  September 2026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349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 · Matplotlib · Seaborn · SciPy · Jupyter · GitHub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Business problem &amp; project scope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00" cy="4846320"/>
          </a:xfrm>
          <a:prstGeom prst="roundRect">
            <a:avLst>
              <a:gd name="adj" fmla="val 226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fast-growing online retailer selling in Cambodia, Thailand, Vietnam, Singapore, Malaysia, the Philippines and Indonesia has never analysed its order history. Management cannot answer: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products, customers and markets actually drive revenue?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customers come back after their first purchase?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some customers leave poor reviews and return products?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spread evenly and decisions are made on intuition.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280160"/>
            <a:ext cx="5303520" cy="2331720"/>
          </a:xfrm>
          <a:prstGeom prst="roundRect">
            <a:avLst>
              <a:gd name="adj" fmla="val 4706"/>
            </a:avLst>
          </a:prstGeom>
          <a:solidFill>
            <a:srgbClr val="E8F7F1"/>
          </a:solidFill>
          <a:ln w="12700">
            <a:solidFill>
              <a:srgbClr val="E8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scope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8288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Order-level data, 1 Jan 2024 – 30 Jun 2025 (2,045 raw → 1,972 clean rows)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attributes: age, gender, country, segment, channel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attributes: category, price, discount, payment, device, delivery, status, rating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· descriptive &amp; statistical analysis · visualisation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3794760"/>
            <a:ext cx="5303520" cy="2331720"/>
          </a:xfrm>
          <a:prstGeom prst="roundRect">
            <a:avLst>
              <a:gd name="adj" fmla="val 4706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343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product analysis (data is at category level)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goods, profit margin, marketing spend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/ machine-learning models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Web-analytics events (page views, cart abandonment)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Three measurable objectives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307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revenue drivers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revenue share by category, segment, country and channel; find the groups producing ≥ 80 % of revenue.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measure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83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(%), cumulative share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307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645920"/>
            <a:ext cx="731520" cy="7315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retention &amp; value concentration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share of repeat buyers and how concentrated spend is among top customers.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measure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983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rate, top-20 % revenue share, churn-risk share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307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service quality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delivery speed and returns are related to customer satisfaction.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measure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983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r with p-value, rating by delivery band, return rate by category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Seven analytical questions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3560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categories generate the most revenue — and the most returns?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0253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· agg · sort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88036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67004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New / Regular / VIP customers differ in frequency, order value and spend?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23697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· customer table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11480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orders and revenue trend month by month — is there seasonality?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47141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groupby · pivot_table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349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49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3892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and acquisition channels bring the most valuable customers?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70585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· pivot_table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16459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143560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delivery time affect the review rating?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995160" y="200253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· pd.cut · correlation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25603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288036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267004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customers repeat, and how many are at churn risk?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323697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aggregation · RFM flags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37947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411480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390448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device and payment preferences differ by age group?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995160" y="447141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crosstab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50292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0800" y="513892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question is answered in the notebook with a table, a chart and a written interpretation, and links back to an objective (O1–O3).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 · The dataset &amp; data dictionary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2,045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order rows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2801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(+11 derived)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2801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12801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· Jan 2024 – Jun 2025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43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but realistic — generated by src/generate_dataset.py (seed 42) with seasonal demand, segment-dependent frequency, category-specific prices and return rates, and a delivery-time → rating link. Realistic defects are injected on purpose: missing values, 45 duplicates, 25 out-of-range values, inconsistent category spelling.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4572000"/>
                <a:gridCol w="2103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 / customer_id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order; customer id repeats across orders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ORD100305 / C1122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order_date, signup_date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date; account registration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2024-04-25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gender, country, 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/ 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demographics (7 markets)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 Male, Cambodia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customer_segment, acquisition_channel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/ Regular / VIP; Organic, Social, Email, Paid Ads, Referral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VIP, Referral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Electronics, Fashion, Home &amp; Kitchen, Beauty, Sports, Books, Toys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quantity, unit_price, discount_pct, shipping_cost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/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economics (USD, 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1, 37.40, 5.0, 9.99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payment_method, device_type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and device 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Card,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delivery_days, order_status, review_rating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 / 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deliver; Delivered/Cancelled/Returned; 1–5 stars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7.0, Returned,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31-column dictionary in docs/data_dictionary.md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5–8 · Explore, clean and validate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103120" cy="283464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· shape · columns · info · describe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7180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describe() exposes age −5…210, quantity −2, discount 150 %, rating 0–7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2468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16352" y="1371600"/>
            <a:ext cx="2103120" cy="283464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155448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99232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999232" y="21031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/ title-case categories, F→Female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999232" y="297180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clean categories, 2 genders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901184" y="2468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84064" y="1371600"/>
            <a:ext cx="2103120" cy="283464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155448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6944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769864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266944" y="21031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df.duplicated() → drop_duplicates()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266944" y="297180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exact duplicates removed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2468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51776" y="1371600"/>
            <a:ext cx="2103120" cy="283464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34656" y="1554480"/>
            <a:ext cx="411480" cy="4114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34656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37576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534656" y="21031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rules, domains, order ≥ signup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534656" y="297180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impossible values → NaN; 28 unusable rows dropped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436608" y="2468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619488" y="1371600"/>
            <a:ext cx="2103120" cy="2834640"/>
          </a:xfrm>
          <a:prstGeom prst="roundRect">
            <a:avLst>
              <a:gd name="adj" fmla="val 521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02368" y="1554480"/>
            <a:ext cx="411480" cy="411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0236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305288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802368" y="21031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(age) · mode (payment) · mode-in-country (city)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9802368" y="297180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NaNs kept (no review, cancelled)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4805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2,045</a:t>
            </a:r>
            <a:endParaRPr lang="en-US" sz="4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rows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840480" y="45720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B7280"/>
                </a:solidFill>
              </a:rPr>
              <a:t>→</a:t>
            </a:r>
            <a:endParaRPr lang="en-US" sz="3000" dirty="0"/>
          </a:p>
        </p:txBody>
      </p:sp>
      <p:sp>
        <p:nvSpPr>
          <p:cNvPr id="41" name="Text 39"/>
          <p:cNvSpPr txBox="1"/>
          <p:nvPr/>
        </p:nvSpPr>
        <p:spPr>
          <a:xfrm>
            <a:off x="4389120" y="44805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438912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removing 45 duplicates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680960" y="45720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B7280"/>
                </a:solidFill>
              </a:rPr>
              <a:t>→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8229600" y="44805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1,972</a:t>
            </a:r>
            <a:endParaRPr lang="en-US" sz="4000" dirty="0"/>
          </a:p>
        </p:txBody>
      </p:sp>
      <p:sp>
        <p:nvSpPr>
          <p:cNvPr id="45" name="Text 43"/>
          <p:cNvSpPr txBox="1"/>
          <p:nvPr/>
        </p:nvSpPr>
        <p:spPr>
          <a:xfrm>
            <a:off x="822960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rows × 31 columns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methods? Median resists the outlier ages; mode is the best single guess for a category; city is imputed within country because it depends on it; rows without a valid price are dropped rather than inventing revenue.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· Derived columns &amp; customer table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990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total_amount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3990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× unit_price − discount + shipping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762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net_revenue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total_amount if Delivered, else 0 (refunded)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535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customer_tenure_days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535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 − signup_date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307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730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pd.cut → 18-24 … 55+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079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order_value_tier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5079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 / High / Premium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5852160" cy="658368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852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is_returned · has_review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5285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 flags → rates via .mean()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75120" y="1325880"/>
            <a:ext cx="4937760" cy="466344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0" y="1508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Customer-level table (RFM style)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groupby('customer_id') → one row per customer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46888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total_orders, total_spent, avg_order_value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recency_days — days since last order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return_rate, avg_rating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is_repeat — more than one order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churn_risk — High &gt; 180 d · Medium 91–180 d · Low ≤ 90 d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50292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build_customer_table() in src/data_cleaning.py so the notebook and the CLI pipeline share one definition.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Electronics is more than half of revenue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8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5836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280160"/>
          <a:ext cx="4206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53.8 %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&amp; Kitchen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Fashion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406640" y="3840480"/>
            <a:ext cx="4206240" cy="2331720"/>
          </a:xfrm>
          <a:prstGeom prst="roundRect">
            <a:avLst>
              <a:gd name="adj" fmla="val 470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589520" y="3931920"/>
            <a:ext cx="3840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gives 54 % of revenue from 24 % of orders (AOV $304 vs $35–$121). Top three categories ≈ 80 % of revenue (O1). Fashion has the highest return rate — the priority for sizing &amp; product-page fixes.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&amp; Q6 · VIPs win on frequency, not basket size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9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36576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234440"/>
          <a:ext cx="36576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23444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4160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67 %</a:t>
            </a:r>
            <a:endParaRPr lang="en-US" sz="40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 bought more than once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3200400" y="4160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57 %</a:t>
            </a:r>
            <a:endParaRPr lang="en-US" sz="4000" dirty="0"/>
          </a:p>
        </p:txBody>
      </p:sp>
      <p:sp>
        <p:nvSpPr>
          <p:cNvPr id="10" name="Text 5"/>
          <p:cNvSpPr txBox="1"/>
          <p:nvPr/>
        </p:nvSpPr>
        <p:spPr>
          <a:xfrm>
            <a:off x="3200400" y="4983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from the top 20 % of customers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852160" y="4160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45 %</a:t>
            </a:r>
            <a:endParaRPr lang="en-US" sz="4000" dirty="0"/>
          </a:p>
        </p:txBody>
      </p:sp>
      <p:sp>
        <p:nvSpPr>
          <p:cNvPr id="12" name="Text 7"/>
          <p:cNvSpPr txBox="1"/>
          <p:nvPr/>
        </p:nvSpPr>
        <p:spPr>
          <a:xfrm>
            <a:off x="5852160" y="4983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inactive &gt; 180 days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8503920" y="4160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0.60</a:t>
            </a:r>
            <a:endParaRPr lang="en-US" sz="4000" dirty="0"/>
          </a:p>
        </p:txBody>
      </p:sp>
      <p:sp>
        <p:nvSpPr>
          <p:cNvPr id="14" name="Text 9"/>
          <p:cNvSpPr txBox="1"/>
          <p:nvPr/>
        </p:nvSpPr>
        <p:spPr>
          <a:xfrm>
            <a:off x="8503920" y="4983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VIP vs New — not significant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VIPs are 23 % of customers but 40 % of revenue because they order 3× as often as New customers; basket size is the same (t-test p = 0.60). Retention is solid (67 % repeat) yet nearly half the base has gone quiet — the win-back target.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Strong year-end peak, January slump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10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768096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$28.2k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2024 revenue — 2.4× the Q1 monthly average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−63 %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566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2025 revenue, month-on-month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503920" y="4297680"/>
            <a:ext cx="3108960" cy="1965960"/>
          </a:xfrm>
          <a:prstGeom prst="roundRect">
            <a:avLst>
              <a:gd name="adj" fmla="val 5581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0" y="4389120"/>
            <a:ext cx="2743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Nov–Dec is the peak season (mainly Electronics). H1 2025 runs slightly above H1 2024, so there is modest growth under the seasonality. Plan stock and ads for Q4; promote in January.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 · Every extra delivery day costs ~0.1 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11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309360" cy="3520440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7132320" y="1234440"/>
          <a:ext cx="44805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−0.38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669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Pearson, p &lt; 0.001 (n = 1,223 reviews)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29184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63.8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5669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across bands, p &lt; 0.001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4892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0" y="49834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fall monotonically from 3.96 (1–3 days) to 3.02 (10+ days). Returned orders average 2.57 vs 3.69 for delivered. Delivery speed is the single strongest lever on satisfaction found in the data (O3).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&amp; Q7 · Markets, channels and payment habits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12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23444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805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457200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= 32 % of customers, 35 % of revenue. Indonesia is smallest but has the highest AOV ($155). Referral customers are worth 29 % less than average — the referral scheme attracts low spenders.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217920" y="448056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0" y="457200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Crosstabs (Q7): Mobile leads every age group (56–64 %). Customers 55+ prefer E-Wallet (38 %) and Bank Transfer (23 %) and rarely use Cash on Delivery (8 % vs 15–18 %). A mobile-first checkout with E-Wallet suits everyone.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· Statistical summary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85800"/>
                <a:gridCol w="685800"/>
                <a:gridCol w="640080"/>
                <a:gridCol w="548640"/>
                <a:gridCol w="822960"/>
                <a:gridCol w="64008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total_amount ($)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136.47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delivery_days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review_rating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29000"/>
            <a:ext cx="6400800" cy="1188720"/>
          </a:xfrm>
          <a:prstGeom prst="roundRect">
            <a:avLst>
              <a:gd name="adj" fmla="val 9231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520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 is right-skewed (skew 3.4): mean ≈ 2× median, std &gt; mean. Use the median as the 'typical order'. Ratings cluster at 4; age is symmetric around 34.</a:t>
            </a:r>
            <a:endParaRPr lang="en-US" sz="1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34440"/>
            <a:ext cx="4389120" cy="33832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4360" y="4873752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48006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days ↔ rating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3840480" y="48006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−0.38, p ≈ 1e-42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525780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14400" y="51846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across delivery bands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51846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F = 63.8, p &lt; 0.001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5641848"/>
            <a:ext cx="201168" cy="20116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556869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AOV: VIP vs New (Welch t)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55686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−0.53, p = 0.60 — no difference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94360" y="6025896"/>
            <a:ext cx="201168" cy="20116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14400" y="59527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↔ category (χ²)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3840480" y="59527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8.2, p = 0.23 — not significant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223760" y="480060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delivery time shows a substantive, significant relationship with satisfaction; demographics and discounts have |r| &lt; 0.07 with spend.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1371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from Electronics; top 3 categories ≈ 80 %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3716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vs 1.6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371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VIP vs New customer — same basket size (p = 0.60)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6060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−0.38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2606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of delivery days with rating; 3.96★ → 3.02★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25146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6060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606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orders returned (10.8 %) or cancelled (6.6 %); Fashion returns 13.6 %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404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2.4×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38404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revenue vs Q1 average; January −63 % MoM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8404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45 %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404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inactive &gt; 180 days despite a 67 % repeat rate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2A3676"/>
          </a:solidFill>
          <a:ln w="12700">
            <a:solidFill>
              <a:srgbClr val="2A367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0749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$237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0749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Referral customer vs $325 from Email (−29 %)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SLA ≤ 5 days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37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markets; show delivery estimates at checkout. Target rating 3.55 → 3.9.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138988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8346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Second-purchase programme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9718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 14 days after first delivery; win-back for the 45 % dormant. New repeat 40 % → 70 %.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26243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F6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06908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069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Fashion &amp; Sports returns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06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guides, fit reviews, more photos, return-reason tracking. Fashion 13.6 % → 10 %.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385876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3035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074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Diversify beyond Electronics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440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Home &amp; Kitchen / Sports bundles; push Beauty in high-AOV markets.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509320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128016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160020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for the seasonal curve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1737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ad budget for Nov–Dec; January promotion to soften the trough (−63 % → −40 %).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744200" y="138988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251460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283464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Rebalance acquisition spend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995160" y="29718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Referral budget to Email / Social; pay referral rewards after the 2nd order.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744200" y="262432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374904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0" y="406908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0" y="4069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99516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VIP margin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995160" y="4206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discounts at ~10 %; replace with free express shipping (supports R1).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10744200" y="3858768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17920" y="498348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00800" y="50749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recommendation names the finding it rests on and a metric to track, so impact can be measured in the next reporting cycle.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· Project on GitHub &amp; live demo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Customer Analytics  · 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120640" cy="4846320"/>
          </a:xfrm>
          <a:prstGeom prst="roundRect">
            <a:avLst>
              <a:gd name="adj" fmla="val 226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ecommerce-customer-analytics/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data/raw/ecommerce_orders_raw.csv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data/processed/ecommerce_orders_clean.csv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notebooks/ecommerce_customer_analytics.ipynb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src/generate_dataset.py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src/data_cleaning.py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outputs/figures/  (9 charts)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docs/data_dictionary.md · project_report.docx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requirements.txt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.gitignore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history: scaffold → generator → cleaning pipeline → notebook → docs. Run: pip install -r requirements.txt → Restart &amp; Run All (~15 s).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25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(≈ 8 min)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035040" y="205740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tour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267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README, requirements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8036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data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30906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src/generate_dataset.py → df.describe() shows the bad values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37033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validate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913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§6–8: missing values, duplicates, validation report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4526280"/>
            <a:ext cx="411480" cy="411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36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segment and delivery-vs-rating tables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53492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5349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&amp; conclude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55595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→ findings → recommendations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9436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Customer Analytics</dc:title>
  <dc:subject>PptxGenJS Presentation</dc:subject>
  <dc:creator>Sak</dc:creator>
  <cp:lastModifiedBy>Sak</cp:lastModifiedBy>
  <cp:revision>1</cp:revision>
  <dcterms:created xsi:type="dcterms:W3CDTF">2026-09-07T16:00:42Z</dcterms:created>
  <dcterms:modified xsi:type="dcterms:W3CDTF">2026-09-07T16:00:42Z</dcterms:modified>
</cp:coreProperties>
</file>