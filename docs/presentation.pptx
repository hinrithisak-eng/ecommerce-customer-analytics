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2" r:id="rId2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37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F2937"/>
                </a:solidFill>
                <a:latin typeface="Calibri"/>
              </a:rPr>
              <a:t>Net revenue by category (USD thousands)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revenue ($k)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Electronics</c:v>
                </c:pt>
                <c:pt idx="1">
                  <c:v>Home &amp; Kitchen</c:v>
                </c:pt>
                <c:pt idx="2">
                  <c:v>Fashion</c:v>
                </c:pt>
                <c:pt idx="3">
                  <c:v>Sports</c:v>
                </c:pt>
                <c:pt idx="4">
                  <c:v>Beauty</c:v>
                </c:pt>
                <c:pt idx="5">
                  <c:v>Toys</c:v>
                </c:pt>
                <c:pt idx="6">
                  <c:v>Books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69.9</c:v>
                </c:pt>
                <c:pt idx="1">
                  <c:v>26.2</c:v>
                </c:pt>
                <c:pt idx="2">
                  <c:v>18.7</c:v>
                </c:pt>
                <c:pt idx="3">
                  <c:v>13.2</c:v>
                </c:pt>
                <c:pt idx="4">
                  <c:v>9.9</c:v>
                </c:pt>
                <c:pt idx="5">
                  <c:v>5.7</c:v>
                </c:pt>
                <c:pt idx="6">
                  <c:v>5.2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F2937"/>
                </a:solidFill>
                <a:latin typeface="Calibri"/>
              </a:rPr>
              <a:t>Orders per customer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 per customer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New</c:v>
                </c:pt>
                <c:pt idx="1">
                  <c:v>Regular</c:v>
                </c:pt>
                <c:pt idx="2">
                  <c:v>VIP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1.63</c:v>
                </c:pt>
                <c:pt idx="1">
                  <c:v>2.47</c:v>
                </c:pt>
                <c:pt idx="2">
                  <c:v>4.89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F2937"/>
                </a:solidFill>
                <a:latin typeface="Calibri"/>
              </a:rPr>
              <a:t>Average order value (USD)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order value ($)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New</c:v>
                </c:pt>
                <c:pt idx="1">
                  <c:v>Regular</c:v>
                </c:pt>
                <c:pt idx="2">
                  <c:v>VIP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97.3</c:v>
                </c:pt>
                <c:pt idx="1">
                  <c:v>94.6</c:v>
                </c:pt>
                <c:pt idx="2">
                  <c:v>86.7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F2937"/>
                </a:solidFill>
                <a:latin typeface="Calibri"/>
              </a:rPr>
              <a:t>Net revenue per customer (USD)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per customer ($)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New</c:v>
                </c:pt>
                <c:pt idx="1">
                  <c:v>Regular</c:v>
                </c:pt>
                <c:pt idx="2">
                  <c:v>VIP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124</c:v>
                </c:pt>
                <c:pt idx="1">
                  <c:v>188</c:v>
                </c:pt>
                <c:pt idx="2">
                  <c:v>353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37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F2937"/>
                </a:solidFill>
                <a:latin typeface="Calibri"/>
              </a:rPr>
              <a:t>Monthly orders (bars) and net revenue (line)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Sheet1!$A$2:$A$19</c:f>
              <c:strCache>
                <c:ptCount val="18"/>
                <c:pt idx="0">
                  <c:v>Jan-24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Jan-25</c:v>
                </c:pt>
                <c:pt idx="13">
                  <c:v>Feb</c:v>
                </c:pt>
                <c:pt idx="14">
                  <c:v>Mar</c:v>
                </c:pt>
                <c:pt idx="15">
                  <c:v>Apr</c:v>
                </c:pt>
                <c:pt idx="16">
                  <c:v>May</c:v>
                </c:pt>
                <c:pt idx="17">
                  <c:v>Jun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77</c:v>
                </c:pt>
                <c:pt idx="1">
                  <c:v>67</c:v>
                </c:pt>
                <c:pt idx="2">
                  <c:v>76</c:v>
                </c:pt>
                <c:pt idx="3">
                  <c:v>102</c:v>
                </c:pt>
                <c:pt idx="4">
                  <c:v>126</c:v>
                </c:pt>
                <c:pt idx="5">
                  <c:v>114</c:v>
                </c:pt>
                <c:pt idx="6">
                  <c:v>111</c:v>
                </c:pt>
                <c:pt idx="7">
                  <c:v>138</c:v>
                </c:pt>
                <c:pt idx="8">
                  <c:v>120</c:v>
                </c:pt>
                <c:pt idx="9">
                  <c:v>105</c:v>
                </c:pt>
                <c:pt idx="10">
                  <c:v>174</c:v>
                </c:pt>
                <c:pt idx="11">
                  <c:v>184</c:v>
                </c:pt>
                <c:pt idx="12">
                  <c:v>96</c:v>
                </c:pt>
                <c:pt idx="13">
                  <c:v>77</c:v>
                </c:pt>
                <c:pt idx="14">
                  <c:v>96</c:v>
                </c:pt>
                <c:pt idx="15">
                  <c:v>96</c:v>
                </c:pt>
                <c:pt idx="16">
                  <c:v>112</c:v>
                </c:pt>
                <c:pt idx="17">
                  <c:v>124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Net revenue ($k)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Jan-24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Jan-25</c:v>
                </c:pt>
                <c:pt idx="13">
                  <c:v>Feb</c:v>
                </c:pt>
                <c:pt idx="14">
                  <c:v>Mar</c:v>
                </c:pt>
                <c:pt idx="15">
                  <c:v>Apr</c:v>
                </c:pt>
                <c:pt idx="16">
                  <c:v>May</c:v>
                </c:pt>
                <c:pt idx="17">
                  <c:v>Jun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5.7</c:v>
                </c:pt>
                <c:pt idx="1">
                  <c:v>5.1</c:v>
                </c:pt>
                <c:pt idx="2">
                  <c:v>5.5</c:v>
                </c:pt>
                <c:pt idx="3">
                  <c:v>7.1</c:v>
                </c:pt>
                <c:pt idx="4">
                  <c:v>9.8</c:v>
                </c:pt>
                <c:pt idx="5">
                  <c:v>11.5</c:v>
                </c:pt>
                <c:pt idx="6">
                  <c:v>8.0</c:v>
                </c:pt>
                <c:pt idx="7">
                  <c:v>8.0</c:v>
                </c:pt>
                <c:pt idx="8">
                  <c:v>8.8</c:v>
                </c:pt>
                <c:pt idx="9">
                  <c:v>6.8</c:v>
                </c:pt>
                <c:pt idx="10">
                  <c:v>10.5</c:v>
                </c:pt>
                <c:pt idx="11">
                  <c:v>13.3</c:v>
                </c:pt>
                <c:pt idx="12">
                  <c:v>7.3</c:v>
                </c:pt>
                <c:pt idx="13">
                  <c:v>4.4</c:v>
                </c:pt>
                <c:pt idx="14">
                  <c:v>9.6</c:v>
                </c:pt>
                <c:pt idx="15">
                  <c:v>7.9</c:v>
                </c:pt>
                <c:pt idx="16">
                  <c:v>9.4</c:v>
                </c:pt>
                <c:pt idx="17">
                  <c:v>9.9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Orders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</c:scaling>
        <c:delete val="0"/>
        <c:axPos val="r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Revenue ($k)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F2937"/>
                </a:solidFill>
                <a:latin typeface="Calibri"/>
              </a:rPr>
              <a:t>Mean review rating by delivery band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rating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EE7B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strRef>
              <c:f>Sheet1!$A$2:$A$5</c:f>
              <c:strCache>
                <c:ptCount val="4"/>
                <c:pt idx="0">
                  <c:v>1–3 days</c:v>
                </c:pt>
                <c:pt idx="1">
                  <c:v>4–6 days</c:v>
                </c:pt>
                <c:pt idx="2">
                  <c:v>7–9 days</c:v>
                </c:pt>
                <c:pt idx="3">
                  <c:v>10+ days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3.97</c:v>
                </c:pt>
                <c:pt idx="1">
                  <c:v>3.68</c:v>
                </c:pt>
                <c:pt idx="2">
                  <c:v>3.29</c:v>
                </c:pt>
                <c:pt idx="3">
                  <c:v>3.0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F2937"/>
                </a:solidFill>
                <a:latin typeface="Calibri"/>
              </a:rPr>
              <a:t>Net revenue by country (USD thousands)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revenue ($k)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Cambodia</c:v>
                </c:pt>
                <c:pt idx="1">
                  <c:v>Vietnam</c:v>
                </c:pt>
                <c:pt idx="2">
                  <c:v>Thailand</c:v>
                </c:pt>
                <c:pt idx="3">
                  <c:v>Singapore</c:v>
                </c:pt>
                <c:pt idx="4">
                  <c:v>Philippines</c:v>
                </c:pt>
                <c:pt idx="5">
                  <c:v>Malaysia</c:v>
                </c:pt>
                <c:pt idx="6">
                  <c:v>Indonesia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47.5</c:v>
                </c:pt>
                <c:pt idx="1">
                  <c:v>28.3</c:v>
                </c:pt>
                <c:pt idx="2">
                  <c:v>27.6</c:v>
                </c:pt>
                <c:pt idx="3">
                  <c:v>14.6</c:v>
                </c:pt>
                <c:pt idx="4">
                  <c:v>12.8</c:v>
                </c:pt>
                <c:pt idx="5">
                  <c:v>10.1</c:v>
                </c:pt>
                <c:pt idx="6">
                  <c:v>7.8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F2937"/>
                </a:solidFill>
                <a:latin typeface="Calibri"/>
              </a:rPr>
              <a:t>Net revenue per acquired customer (USD)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per customer ($)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strRef>
              <c:f>Sheet1!$A$2:$A$6</c:f>
              <c:strCache>
                <c:ptCount val="5"/>
                <c:pt idx="0">
                  <c:v>Email</c:v>
                </c:pt>
                <c:pt idx="1">
                  <c:v>Organic Search</c:v>
                </c:pt>
                <c:pt idx="2">
                  <c:v>Paid Ads</c:v>
                </c:pt>
                <c:pt idx="3">
                  <c:v>Social Media</c:v>
                </c:pt>
                <c:pt idx="4">
                  <c:v>Referral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246</c:v>
                </c:pt>
                <c:pt idx="1">
                  <c:v>217</c:v>
                </c:pt>
                <c:pt idx="2">
                  <c:v>207</c:v>
                </c:pt>
                <c:pt idx="3">
                  <c:v>191</c:v>
                </c:pt>
                <c:pt idx="4">
                  <c:v>145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an e-commerce retailer across 7 Southeast-Asian markets; goal is to answer business questions from order data using Pandas.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chart" Target="..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chart" Target="../charts/chart7.xml"/><Relationship Id="rId2" Type="http://schemas.openxmlformats.org/officeDocument/2006/relationships/chart" Target="..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463040"/>
            <a:ext cx="5486400" cy="5486400"/>
          </a:xfrm>
          <a:prstGeom prst="ellipse">
            <a:avLst/>
          </a:prstGeom>
          <a:solidFill>
            <a:srgbClr val="2A3676"/>
          </a:solidFill>
          <a:ln w="12700">
            <a:solidFill>
              <a:srgbClr val="2A3676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875520" y="3566160"/>
            <a:ext cx="3657600" cy="3657600"/>
          </a:xfrm>
          <a:prstGeom prst="ellipse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8288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 Customer Analytics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1546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18 months of order data into revenue, retention and service-quality insights with Python &amp; Pandas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937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  ·  October 2026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349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NumPy · Matplotlib · Seaborn · SciPy · Jupyter · GitHub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Business problem &amp; project scope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Customer Analytics  ·  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486400" cy="4846320"/>
          </a:xfrm>
          <a:prstGeom prst="roundRect">
            <a:avLst>
              <a:gd name="adj" fmla="val 2264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14630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659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fast-growing online retailer selling in Cambodia, Thailand, Vietnam, Singapore, Malaysia, the Philippines and Indonesia has never analysed its order history. Management cannot answer: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0040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products, customers and markets actually drive revenue?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customers come back after their first purchase?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some customers leave poor reviews and return products?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1206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 are spread evenly and decisions are made on intuition.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280160"/>
            <a:ext cx="5303520" cy="2331720"/>
          </a:xfrm>
          <a:prstGeom prst="roundRect">
            <a:avLst>
              <a:gd name="adj" fmla="val 4706"/>
            </a:avLst>
          </a:prstGeom>
          <a:solidFill>
            <a:srgbClr val="E8F7F1"/>
          </a:solidFill>
          <a:ln w="12700">
            <a:solidFill>
              <a:srgbClr val="E8F7F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583680" y="1417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47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scope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182880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Order-level data, 1 Jan 2024 – 30 Jun 2025 (2,045 raw → 1,995 clean rows)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60-product catalogue: 7 categories, 30 subcategories, fixed prices, stock on hand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attributes: age, gender, country, segment, channel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attributes: product, price, discount, payment, device, delivery, status, rating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· descriptive &amp; statistical analysis · visualisation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09360" y="3794760"/>
            <a:ext cx="5303520" cy="2331720"/>
          </a:xfrm>
          <a:prstGeom prst="roundRect">
            <a:avLst>
              <a:gd name="adj" fmla="val 4706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6583680" y="3931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of scope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434340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goods, profit margin, marketing spend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changes and promotions over time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/ machine-learning models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Web-analytics events (page views, cart abandonment)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Three measurable objectives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Customer Analytics  ·  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66160" cy="4572000"/>
          </a:xfrm>
          <a:prstGeom prst="roundRect">
            <a:avLst>
              <a:gd name="adj" fmla="val 3077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1645920"/>
            <a:ext cx="731520" cy="7315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82296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603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 revenue drivers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3756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revenue share by category, subcategory, product, segment, country and channel; find the groups producing ≥ 80 % of revenue.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709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measure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9834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 (%), cumulative share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97680" y="1371600"/>
            <a:ext cx="3566160" cy="4572000"/>
          </a:xfrm>
          <a:prstGeom prst="roundRect">
            <a:avLst>
              <a:gd name="adj" fmla="val 3077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0" y="1645920"/>
            <a:ext cx="731520" cy="7315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457200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5603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 retention &amp; value concentration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333756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the share of repeat buyers and how concentrated spend is among top customers.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4709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measure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49834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rate, top-20 % revenue share, churn-risk share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46720" y="1371600"/>
            <a:ext cx="3566160" cy="4572000"/>
          </a:xfrm>
          <a:prstGeom prst="roundRect">
            <a:avLst>
              <a:gd name="adj" fmla="val 3077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321040" y="1645920"/>
            <a:ext cx="731520" cy="7315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832104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O3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25603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 service quality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8321040" y="333756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delivery speed and returns are related to customer satisfaction.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4709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measure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321040" y="49834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r with p-value, rating by delivery band, return rate by category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Analytical questions (Q1–Q8)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Customer Analytics  ·  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31520" y="164592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3152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435608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categories generate the most revenue — and the most returns?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00253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· agg · sort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31520" y="288036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73152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670048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New / Regular / VIP customers differ in frequency, order value and spend?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23697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· customer table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31520" y="411480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731520" y="4114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904488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orders and revenue trend month by month — is there seasonality?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47141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groupby · pivot_table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02920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31520" y="534924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31520" y="5349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138928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countries and acquisition channels bring the most valuable customers?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570585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· pivot_table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132588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400800" y="164592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640080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995160" y="1435608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delivery time affect the review rating?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6995160" y="200253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· pd.cut · correlation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256032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400800" y="288036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640080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995160" y="2670048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share of customers repeat, and how many are at churn risk?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6995160" y="323697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aggregation · RFM flags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379476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6400800" y="411480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 txBox="1"/>
          <p:nvPr/>
        </p:nvSpPr>
        <p:spPr>
          <a:xfrm>
            <a:off x="6400800" y="4114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995160" y="3904488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device and payment preferences differ by age group?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6995160" y="447141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crosstab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17920" y="502920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 txBox="1"/>
          <p:nvPr/>
        </p:nvSpPr>
        <p:spPr>
          <a:xfrm>
            <a:off x="6400800" y="5138928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Q8 — which products and subcategories sell best, and which are about to run out of stock? Each question is answered in the notebook with a table, a chart and a written interpretation, and links back to an objective (O1–O3).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3–4 · The dataset &amp; data dictionary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Customer Analytics  ·  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2,045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order rows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200400" y="12801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2103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+ 60-product catalogue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12801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723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2103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503920" y="12801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503920" y="2103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· Jan 2024 – Jun 2025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7432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but realistic — generated by src/generate_dataset.py (seed 42): first a product catalogue (e.g. Books → Comics &amp; Manga, Programming, Fiction) with one fixed price and a stock level per product, then 2,000 orders with seasonal demand, segment-dependent frequency, product popularity, category return rates and a delivery-time → rating link. Defects are injected on purpose: missing values, 45 duplicates, 25 out-of-range values, wrong prices and inconsistent spelling.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1188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371600"/>
                <a:gridCol w="4572000"/>
                <a:gridCol w="21031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order_id / customer_id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order; customer id repeats across orders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ORD100305 / C1122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order_date, signup_date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date; account registration 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2024-04-25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age, gender, country, 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/ 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demographics (7 markets)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36, Male, Cambodia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customer_segment, acquisition_channel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/ Regular / VIP; Organic, Social, Email, Paid Ads, Referral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VIP, Referral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product_id, product_name, 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 / 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from the catalogue (60 products, 30 subcategories)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P036, Herbal Shampoo, Beauty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quantity, unit_price, discount_pct, shipping_cost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/ float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Basket economics — unit_price = the product's fixed list 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2, 9.00, 0.0, 6.99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payment_method, device_type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and device used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Card, Desktop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delivery_days, order_status, review_rating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 / 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to deliver; Delivered/Cancelled/Returned; 1–5 stars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7.0, Returned, 3.0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34-column dictionary and the catalogue fields in docs/data_dictionary.md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5–8 · Explore, clean and validate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Customer Analytics  ·  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103120" cy="2834640"/>
          </a:xfrm>
          <a:prstGeom prst="roundRect">
            <a:avLst>
              <a:gd name="adj" fmla="val 5217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31520" y="155448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3152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554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1031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· shape · columns · info · describe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971800"/>
            <a:ext cx="1783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describe() exposes age −5…210, quantity −2, discount 150 %, rating 0–7, negative prices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633472" y="24688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816352" y="1371600"/>
            <a:ext cx="2103120" cy="2834640"/>
          </a:xfrm>
          <a:prstGeom prst="roundRect">
            <a:avLst>
              <a:gd name="adj" fmla="val 5217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999232" y="155448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2999232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502152" y="1554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Standardise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2999232" y="21031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/ title-case categories &amp; product names, F→Female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2999232" y="2971800"/>
            <a:ext cx="1783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clean categories, 2 genders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901184" y="24688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5084064" y="1371600"/>
            <a:ext cx="2103120" cy="2834640"/>
          </a:xfrm>
          <a:prstGeom prst="roundRect">
            <a:avLst>
              <a:gd name="adj" fmla="val 5217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266944" y="155448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5266944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769864" y="1554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Duplicates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5266944" y="21031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df.duplicated() → drop_duplicates()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266944" y="2971800"/>
            <a:ext cx="1783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exact duplicates removed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168896" y="24688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7351776" y="1371600"/>
            <a:ext cx="2103120" cy="2834640"/>
          </a:xfrm>
          <a:prstGeom prst="roundRect">
            <a:avLst>
              <a:gd name="adj" fmla="val 5217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7534656" y="1554480"/>
            <a:ext cx="411480" cy="4114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7534656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037576" y="1554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7534656" y="21031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rules, domains, order ≥ signup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7534656" y="2971800"/>
            <a:ext cx="1783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impossible → NaN; 5 rows dropped; 23 prices restored from the catalogue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436608" y="24688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9619488" y="1371600"/>
            <a:ext cx="2103120" cy="2834640"/>
          </a:xfrm>
          <a:prstGeom prst="roundRect">
            <a:avLst>
              <a:gd name="adj" fmla="val 5217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9802368" y="155448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 txBox="1"/>
          <p:nvPr/>
        </p:nvSpPr>
        <p:spPr>
          <a:xfrm>
            <a:off x="9802368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0305288" y="1554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Impute</a:t>
            </a:r>
            <a:endParaRPr lang="en-US" sz="1700" dirty="0"/>
          </a:p>
        </p:txBody>
      </p:sp>
      <p:sp>
        <p:nvSpPr>
          <p:cNvPr id="36" name="Text 34"/>
          <p:cNvSpPr txBox="1"/>
          <p:nvPr/>
        </p:nvSpPr>
        <p:spPr>
          <a:xfrm>
            <a:off x="9802368" y="21031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(age) · mode (payment) · mode-in-country (city)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9802368" y="2971800"/>
            <a:ext cx="1783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NaNs kept (no review, cancelled)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44805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2,045</a:t>
            </a:r>
            <a:endParaRPr lang="en-US" sz="40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5303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rows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3840480" y="457200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6B7280"/>
                </a:solidFill>
              </a:rPr>
              <a:t>→</a:t>
            </a:r>
            <a:endParaRPr lang="en-US" sz="3000" dirty="0"/>
          </a:p>
        </p:txBody>
      </p:sp>
      <p:sp>
        <p:nvSpPr>
          <p:cNvPr id="41" name="Text 39"/>
          <p:cNvSpPr txBox="1"/>
          <p:nvPr/>
        </p:nvSpPr>
        <p:spPr>
          <a:xfrm>
            <a:off x="4389120" y="44805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</a:t>
            </a:r>
            <a:endParaRPr lang="en-US" sz="4000" dirty="0"/>
          </a:p>
        </p:txBody>
      </p:sp>
      <p:sp>
        <p:nvSpPr>
          <p:cNvPr id="42" name="Text 40"/>
          <p:cNvSpPr txBox="1"/>
          <p:nvPr/>
        </p:nvSpPr>
        <p:spPr>
          <a:xfrm>
            <a:off x="4389120" y="5303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removing 45 duplicates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7680960" y="457200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6B7280"/>
                </a:solidFill>
              </a:rPr>
              <a:t>→</a:t>
            </a:r>
            <a:endParaRPr lang="en-US" sz="3000" dirty="0"/>
          </a:p>
        </p:txBody>
      </p:sp>
      <p:sp>
        <p:nvSpPr>
          <p:cNvPr id="44" name="Text 42"/>
          <p:cNvSpPr txBox="1"/>
          <p:nvPr/>
        </p:nvSpPr>
        <p:spPr>
          <a:xfrm>
            <a:off x="8229600" y="44805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1,995</a:t>
            </a:r>
            <a:endParaRPr lang="en-US" sz="4000" dirty="0"/>
          </a:p>
        </p:txBody>
      </p:sp>
      <p:sp>
        <p:nvSpPr>
          <p:cNvPr id="45" name="Text 43"/>
          <p:cNvSpPr txBox="1"/>
          <p:nvPr/>
        </p:nvSpPr>
        <p:spPr>
          <a:xfrm>
            <a:off x="8229600" y="53035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rows × 34 columns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methods? Median resists the outlier ages; mode is the best single guess for a category; city is imputed within country because it depends on it; a missing or wrong price is looked up from the catalogue because every product has one fixed list price.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· Derived columns &amp; customer table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Customer Analytics  ·  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852160" cy="658368"/>
          </a:xfrm>
          <a:prstGeom prst="roundRect">
            <a:avLst>
              <a:gd name="adj" fmla="val 16667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77240" y="13990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total_amount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200400" y="139903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× unit_price − discount + shipping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852160" cy="658368"/>
          </a:xfrm>
          <a:prstGeom prst="roundRect">
            <a:avLst>
              <a:gd name="adj" fmla="val 16667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77240" y="217627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net_revenue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200400" y="21762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total_amount if Delivered, else 0 (refunded)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5852160" cy="658368"/>
          </a:xfrm>
          <a:prstGeom prst="roundRect">
            <a:avLst>
              <a:gd name="adj" fmla="val 16667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777240" y="295351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customer_tenure_days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200400" y="29535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order_date − signup_date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5852160" cy="658368"/>
          </a:xfrm>
          <a:prstGeom prst="roundRect">
            <a:avLst>
              <a:gd name="adj" fmla="val 16667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777240" y="37307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age_group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200400" y="37307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pd.cut → 18-24 … 55+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5852160" cy="658368"/>
          </a:xfrm>
          <a:prstGeom prst="roundRect">
            <a:avLst>
              <a:gd name="adj" fmla="val 16667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777240" y="450799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order_value_tier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200400" y="45079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Medium / High / Premium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212080"/>
            <a:ext cx="5852160" cy="658368"/>
          </a:xfrm>
          <a:prstGeom prst="roundRect">
            <a:avLst>
              <a:gd name="adj" fmla="val 16667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777240" y="52852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is_returned · has_review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200400" y="528523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0/1 flags → rates via .mean()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75120" y="1325880"/>
            <a:ext cx="4937760" cy="4663440"/>
          </a:xfrm>
          <a:prstGeom prst="roundRect">
            <a:avLst>
              <a:gd name="adj" fmla="val 235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949440" y="15087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Customer-level table (RFM style)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949440" y="19659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groupby('customer_id') → one row per customer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949440" y="2468880"/>
            <a:ext cx="448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total_orders, total_spent, avg_order_value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recency_days — days since last order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return_rate, avg_rating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is_repeat — more than one order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churn_risk — High &gt; 180 d · Medium 91–180 d · Low ≤ 90 d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502920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build_customer_table() in src/data_cleaning.py so the notebook and the CLI pipeline share one definition.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 · Electronics is almost half of revenue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Customer Analytics  ·  8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34440"/>
          <a:ext cx="658368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280160"/>
          <a:ext cx="4206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118872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Rev. share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47.0 %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&amp; Kitchen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17.6 %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Fashion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12.6 %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15.7 %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Sports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Beauty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7406640" y="3840480"/>
            <a:ext cx="4206240" cy="2331720"/>
          </a:xfrm>
          <a:prstGeom prst="roundRect">
            <a:avLst>
              <a:gd name="adj" fmla="val 4706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 txBox="1"/>
          <p:nvPr/>
        </p:nvSpPr>
        <p:spPr>
          <a:xfrm>
            <a:off x="7589520" y="3931920"/>
            <a:ext cx="38404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 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gives 47 % of revenue from 24 % of orders (AOV $186 vs $35–$91). Top three categories ≈ 77 % of revenue (O1). Fashion has the highest return rate (15.7 %) — the priority for sizing &amp; product-page fixes.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 &amp; Q6 · VIPs win on frequency, not basket size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Customer Analytics  ·  9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34440"/>
          <a:ext cx="36576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297680" y="1234440"/>
          <a:ext cx="36576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2" descr=""/>
          <p:cNvGraphicFramePr/>
          <p:nvPr/>
        </p:nvGraphicFramePr>
        <p:xfrm>
          <a:off x="8046720" y="1234440"/>
          <a:ext cx="35661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 2"/>
          <p:cNvSpPr txBox="1"/>
          <p:nvPr/>
        </p:nvSpPr>
        <p:spPr>
          <a:xfrm>
            <a:off x="548640" y="41605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67 %</a:t>
            </a:r>
            <a:endParaRPr lang="en-US" sz="4000" dirty="0"/>
          </a:p>
        </p:txBody>
      </p:sp>
      <p:sp>
        <p:nvSpPr>
          <p:cNvPr id="8" name="Text 3"/>
          <p:cNvSpPr txBox="1"/>
          <p:nvPr/>
        </p:nvSpPr>
        <p:spPr>
          <a:xfrm>
            <a:off x="548640" y="4983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 bought more than once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3200400" y="41605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59 %</a:t>
            </a:r>
            <a:endParaRPr lang="en-US" sz="4000" dirty="0"/>
          </a:p>
        </p:txBody>
      </p:sp>
      <p:sp>
        <p:nvSpPr>
          <p:cNvPr id="10" name="Text 5"/>
          <p:cNvSpPr txBox="1"/>
          <p:nvPr/>
        </p:nvSpPr>
        <p:spPr>
          <a:xfrm>
            <a:off x="3200400" y="4983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revenue from the top 20 % of customers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5852160" y="41605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45 %</a:t>
            </a:r>
            <a:endParaRPr lang="en-US" sz="4000" dirty="0"/>
          </a:p>
        </p:txBody>
      </p:sp>
      <p:sp>
        <p:nvSpPr>
          <p:cNvPr id="12" name="Text 7"/>
          <p:cNvSpPr txBox="1"/>
          <p:nvPr/>
        </p:nvSpPr>
        <p:spPr>
          <a:xfrm>
            <a:off x="5852160" y="4983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inactive &gt; 180 days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8503920" y="41605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0.26</a:t>
            </a:r>
            <a:endParaRPr lang="en-US" sz="4000" dirty="0"/>
          </a:p>
        </p:txBody>
      </p:sp>
      <p:sp>
        <p:nvSpPr>
          <p:cNvPr id="14" name="Text 9"/>
          <p:cNvSpPr txBox="1"/>
          <p:nvPr/>
        </p:nvSpPr>
        <p:spPr>
          <a:xfrm>
            <a:off x="8503920" y="4983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 VIP vs New — not significant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48640" y="553212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p/>
        </p:txBody>
      </p:sp>
      <p:sp>
        <p:nvSpPr>
          <p:cNvPr id="16" name="Text 11"/>
          <p:cNvSpPr txBox="1"/>
          <p:nvPr/>
        </p:nvSpPr>
        <p:spPr>
          <a:xfrm>
            <a:off x="731520" y="562356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 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VIPs are 23 % of customers but 40 % of revenue because they order 3× as often as New customers; basket size is no bigger (t-test p = 0.26). Retention is solid (67 % repeat) yet nearly half the base has gone quiet — the win-back target.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 · Strong year-end peak, January slump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Customer Analytics  ·  10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34440"/>
          <a:ext cx="768096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503920" y="12801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$13.3k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8503920" y="2103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2024 revenue — 2.4× the Q1 monthly average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7432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−45 %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503920" y="3566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2025 revenue, month-on-month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503920" y="4297680"/>
            <a:ext cx="3108960" cy="1965960"/>
          </a:xfrm>
          <a:prstGeom prst="roundRect">
            <a:avLst>
              <a:gd name="adj" fmla="val 5581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8686800" y="4389120"/>
            <a:ext cx="2743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 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Nov–Dec is the peak season (mainly Electronics). H1 2025 runs above H1 2024, so there is modest growth under the seasonality. Plan stock and ads for Q4; promote in January.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 · Every extra delivery day costs ~0.12 star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Customer Analytics  ·  11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6309360" cy="3520440"/>
          </a:xfrm>
          <a:prstGeom prst="rect">
            <a:avLst/>
          </a:prstGeom>
        </p:spPr>
      </p:pic>
      <p:graphicFrame>
        <p:nvGraphicFramePr>
          <p:cNvPr id="5" name="Chart 0" descr=""/>
          <p:cNvGraphicFramePr/>
          <p:nvPr/>
        </p:nvGraphicFramePr>
        <p:xfrm>
          <a:off x="7132320" y="1234440"/>
          <a:ext cx="448056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48463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−0.41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5669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Pearson, p &lt; 0.001 (n = 1,247 reviews)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3291840" y="48463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= 75.0</a:t>
            </a:r>
            <a:endParaRPr lang="en-US" sz="4000" dirty="0"/>
          </a:p>
        </p:txBody>
      </p:sp>
      <p:sp>
        <p:nvSpPr>
          <p:cNvPr id="9" name="Text 5"/>
          <p:cNvSpPr txBox="1"/>
          <p:nvPr/>
        </p:nvSpPr>
        <p:spPr>
          <a:xfrm>
            <a:off x="3291840" y="5669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across bands, p &lt; 0.001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217920" y="489204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 txBox="1"/>
          <p:nvPr/>
        </p:nvSpPr>
        <p:spPr>
          <a:xfrm>
            <a:off x="6400800" y="498348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 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fall monotonically from 3.97 (1–3 days) to 3.00 (10+ days). Returned orders average 2.46 vs 3.67 for delivered. Delivery speed is the single strongest lever on satisfaction found in the data (O3).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 &amp; Q7 · Markets, channels and payment habits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Customer Analytics  ·  12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34440"/>
          <a:ext cx="54864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17920" y="1234440"/>
          <a:ext cx="53949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4480560"/>
            <a:ext cx="5486400" cy="1783080"/>
          </a:xfrm>
          <a:prstGeom prst="roundRect">
            <a:avLst>
              <a:gd name="adj" fmla="val 6154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 txBox="1"/>
          <p:nvPr/>
        </p:nvSpPr>
        <p:spPr>
          <a:xfrm>
            <a:off x="731520" y="4572000"/>
            <a:ext cx="5120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 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Cambodia = 32 % of customers and 32 % of revenue. The Philippines is small but has the highest AOV ($113) and revenue per customer ($242). Referral customers are worth 29 % less than average — the referral scheme attracts low spenders.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6217920" y="4480560"/>
            <a:ext cx="5394960" cy="1783080"/>
          </a:xfrm>
          <a:prstGeom prst="roundRect">
            <a:avLst>
              <a:gd name="adj" fmla="val 6154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6400800" y="4572000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 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Crosstabs (Q7): Mobile leads every age group under 55 (55–63 %). Credit Card leads almost everywhere; the small 55+ group uses Cash on Delivery most (26 % vs 14–17 %). A mobile-first checkout with card and E-Wallet suits nearly everyone.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Q8 · A few products carry the revenue — two are sold out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Customer Analytics  ·  13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280160"/>
          <a:ext cx="4206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118872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 sold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revenue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Smartphone A54 128GB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$16.6k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14-inch Laptop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$11.6k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10-inch Android Tablet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$8.6k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4L Air Fryer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$7.4k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Wireless Earbuds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$7.2k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Smartwatch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$6.6k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Noise-Cancelling Headphones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$6.5k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7406640" y="3840480"/>
            <a:ext cx="4206240" cy="2331720"/>
          </a:xfrm>
          <a:prstGeom prst="roundRect">
            <a:avLst>
              <a:gd name="adj" fmla="val 4706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 txBox="1"/>
          <p:nvPr/>
        </p:nvSpPr>
        <p:spPr>
          <a:xfrm>
            <a:off x="7589520" y="3931920"/>
            <a:ext cx="38404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 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Smartphone A54 alone earns 11 % of net revenue and the top 10 of 60 products earn 51 %. The 4L Air Fryer is the best non-Electronics product (Small Appliances = 60 % of Home &amp; Kitchen). Stock cover = stock ÷ average monthly units: Noise-Cancelling Headphones and LED Table Lamp are sold out; 4 more are at or below their reorder level.</a:t>
            </a:r>
            <a:endParaRPr lang="en-US" sz="1250" dirty="0"/>
          </a:p>
        </p:txBody>
      </p:sp>
      <p:pic>
        <p:nvPicPr>
          <p:cNvPr id="10" name="Picture 9" descr="10_top_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34440"/>
            <a:ext cx="6583680" cy="389200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· Statistical summary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Customer Analytics  ·  14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64008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85800"/>
                <a:gridCol w="685800"/>
                <a:gridCol w="640080"/>
                <a:gridCol w="548640"/>
                <a:gridCol w="822960"/>
                <a:gridCol w="640080"/>
                <a:gridCol w="7315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total_amount ($)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49.54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31.99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1,849.65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142.75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20,377.32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delivery_days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review_rating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34.42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100.72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29000"/>
            <a:ext cx="6400800" cy="1188720"/>
          </a:xfrm>
          <a:prstGeom prst="roundRect">
            <a:avLst>
              <a:gd name="adj" fmla="val 9231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731520" y="352044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 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value is right-skewed (skew 5.6): mean ≈ 2× median, std &gt; mean. Use the median as the 'typical order'. Ratings cluster at 4; age is symmetric around 34.</a:t>
            </a:r>
            <a:endParaRPr lang="en-US" sz="12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234440"/>
            <a:ext cx="4389120" cy="33832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94360" y="4873752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914400" y="48006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days ↔ rating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3840480" y="48006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−0.41, p ≈ 1e-50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94360" y="5257800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 txBox="1"/>
          <p:nvPr/>
        </p:nvSpPr>
        <p:spPr>
          <a:xfrm>
            <a:off x="914400" y="518464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across delivery bands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3840480" y="51846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F = 75.0, p &lt; 0.001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94360" y="5641848"/>
            <a:ext cx="201168" cy="20116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 txBox="1"/>
          <p:nvPr/>
        </p:nvSpPr>
        <p:spPr>
          <a:xfrm>
            <a:off x="914400" y="556869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AOV: VIP vs New (Welch t)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3840480" y="556869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−1.14, p = 0.26 — no difference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94360" y="6025896"/>
            <a:ext cx="201168" cy="20116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 txBox="1"/>
          <p:nvPr/>
        </p:nvSpPr>
        <p:spPr>
          <a:xfrm>
            <a:off x="914400" y="595274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↔ category (χ²)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3840480" y="595274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= 15.8, p = 0.015 — significant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7223760" y="480060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 is the only behavioural variable with a substantive, significant link to satisfaction; returns differ by category (Fashion highest); demographics and discounts have |r| &lt; 0.07 with spend.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Customer Analytics  ·  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2A3676"/>
          </a:solidFill>
          <a:ln w="12700">
            <a:solidFill>
              <a:srgbClr val="2A367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31520" y="13716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47 %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2514600" y="13716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revenue from Electronics; Smartphone A54 alone = 11 %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28016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2A3676"/>
          </a:solidFill>
          <a:ln w="12700">
            <a:solidFill>
              <a:srgbClr val="2A367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400800" y="13716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4.9 vs 1.6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13716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per VIP vs New customer — same basket size (p = 0.26)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51460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2A3676"/>
          </a:solidFill>
          <a:ln w="12700">
            <a:solidFill>
              <a:srgbClr val="2A367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731520" y="26060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−0.41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2514600" y="26060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of delivery days with rating; 3.97★ → 3.00★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0" y="251460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2A3676"/>
          </a:solidFill>
          <a:ln w="12700">
            <a:solidFill>
              <a:srgbClr val="2A3676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400800" y="26060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18 %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183880" y="26060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orders returned (11.2 %) or cancelled (6.6 %); Fashion returns 15.7 %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2A3676"/>
          </a:solidFill>
          <a:ln w="12700">
            <a:solidFill>
              <a:srgbClr val="2A3676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731520" y="384048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2.4×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2514600" y="38404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revenue vs Q1 average; January −45 % MoM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17920" y="374904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2A3676"/>
          </a:solidFill>
          <a:ln w="12700">
            <a:solidFill>
              <a:srgbClr val="2A3676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400800" y="384048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45 %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8183880" y="38404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inactive &gt; 180 days despite a 67 % repeat rate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498348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2A3676"/>
          </a:solidFill>
          <a:ln w="12700">
            <a:solidFill>
              <a:srgbClr val="2A367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731520" y="50749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sold out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2514600" y="50749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sellers out of stock (Noise-Cancelling Headphones ≈ $775 / month); 4 more below reorder level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Customer Analytics  ·  16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31520" y="160020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3152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SLA ≤ 5 days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7373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markets; show delivery estimates at checkout. Target rating 3.53 → 3.9.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074920" y="138988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51460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31520" y="283464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31520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Second-purchase programme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29718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Voucher 14 days after first delivery; win-back for the 45 % dormant. New repeat 40 % → 71 %.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074920" y="262432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F6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31520" y="406908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731520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3840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Cut Fashion returns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42062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guides, fit reviews, more photos; start with Slim-Fit Jeans (24 %). Fashion 15.7 % → 11 %.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074920" y="385876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98348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731520" y="530352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731520" y="5303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5074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Diversify beyond Electronics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54406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Home &amp; Kitchen appliances (Air Fryer, Rice Cooker) and Sports bundles to Electronics buyers.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074920" y="509320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128016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400800" y="160020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 txBox="1"/>
          <p:nvPr/>
        </p:nvSpPr>
        <p:spPr>
          <a:xfrm>
            <a:off x="640080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99516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for the seasonal curve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995160" y="17373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&amp; ad budget for Nov–Dec; January promotion to soften the trough (−45 % → −30 %).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10744200" y="138988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17920" y="251460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6400800" y="283464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 txBox="1"/>
          <p:nvPr/>
        </p:nvSpPr>
        <p:spPr>
          <a:xfrm>
            <a:off x="6400800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99516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Rebalance acquisition spend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995160" y="29718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Referral budget to Email / Organic Search; pay referral rewards after the 2nd order.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10744200" y="262432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F7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17920" y="374904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6400800" y="406908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 txBox="1"/>
          <p:nvPr/>
        </p:nvSpPr>
        <p:spPr>
          <a:xfrm>
            <a:off x="6400800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6995160" y="3840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Reorder from stock cover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6995160" y="42062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Restock the 2 sold-out products now; reorder below 2 months of cover (flagged in the web app).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10744200" y="385876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F8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217920" y="4983480"/>
            <a:ext cx="5440680" cy="1097280"/>
          </a:xfrm>
          <a:prstGeom prst="roundRect">
            <a:avLst>
              <a:gd name="adj" fmla="val 10000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 txBox="1"/>
          <p:nvPr/>
        </p:nvSpPr>
        <p:spPr>
          <a:xfrm>
            <a:off x="6400800" y="50749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recommendation names the finding it rests on and a metric to track, so impact can be measured in the next reporting cycle.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· Project on GitHub &amp; live demo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Customer Analytics  ·  17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120640" cy="4846320"/>
          </a:xfrm>
          <a:prstGeom prst="roundRect">
            <a:avLst>
              <a:gd name="adj" fmla="val 226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1463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ecommerce-customer-analytics/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20240"/>
            <a:ext cx="4663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data/  raw + processed (orders, products)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notebooks/  analysis notebook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src/  generator · cleaning · pipeline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webapp/  Flask + SQLite app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tests/  pytest suite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outputs/figures/  10 charts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docs/  report · slides · dashboard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README.md · requirements.txt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.github/workflows/ci.yml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1206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history: scaffold → generator → cleaning pipeline → notebook → docs → web app → product catalogue. Run: pip install -r requirements.txt → python src/run_pipeline.py → python webapp/app.py.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32588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(≈ 8 min)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035040" y="205740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03504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1920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tour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26771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README, requirements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288036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03504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2743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data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309067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src/generate_dataset.py → df.describe() shows the bad values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370332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6035040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3566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validate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391363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§6–8: missing values, duplicates, validation report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35040" y="452628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6035040" y="4526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4389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473659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segment and delivery-vs-rating tables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35040" y="534924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6035040" y="5349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0" y="5212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 &amp; conclude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6583680" y="555955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→ findings → recommendations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035040" y="59436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Customer Analytics</dc:title>
  <dc:subject>PptxGenJS Presentation</dc:subject>
  <dc:creator>Sak</dc:creator>
  <cp:lastModifiedBy>Sak</cp:lastModifiedBy>
  <cp:revision>1</cp:revision>
  <dcterms:created xsi:type="dcterms:W3CDTF">2026-09-07T16:00:42Z</dcterms:created>
  <dcterms:modified xsi:type="dcterms:W3CDTF">2026-09-07T16:00:42Z</dcterms:modified>
</cp:coreProperties>
</file>